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61" r:id="rId4"/>
    <p:sldId id="267" r:id="rId5"/>
    <p:sldId id="268" r:id="rId6"/>
    <p:sldId id="270" r:id="rId7"/>
    <p:sldId id="264" r:id="rId8"/>
    <p:sldId id="266" r:id="rId9"/>
  </p:sldIdLst>
  <p:sldSz cx="18288000" cy="10287000"/>
  <p:notesSz cx="6858000" cy="9144000"/>
  <p:embeddedFontLst>
    <p:embeddedFont>
      <p:font typeface="Open Sauce" panose="020B0604020202020204" charset="0"/>
      <p:regular r:id="rId11"/>
    </p:embeddedFont>
    <p:embeddedFont>
      <p:font typeface="Oswald" panose="00000500000000000000" pitchFamily="2" charset="0"/>
      <p:regular r:id="rId12"/>
      <p:bold r:id="rId13"/>
    </p:embeddedFont>
    <p:embeddedFont>
      <p:font typeface="Oswald Bold" panose="00000800000000000000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Bold" panose="020000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C0854-3C84-4EDF-B0A2-47A012F01D3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A1D2E-38DA-46F5-B700-9B8C835AA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7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A1D2E-38DA-46F5-B700-9B8C835AA5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81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3867" y="451959"/>
            <a:ext cx="16405433" cy="9379520"/>
            <a:chOff x="0" y="0"/>
            <a:chExt cx="3168156" cy="18113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8156" cy="1811338"/>
            </a:xfrm>
            <a:custGeom>
              <a:avLst/>
              <a:gdLst/>
              <a:ahLst/>
              <a:cxnLst/>
              <a:rect l="l" t="t" r="r" b="b"/>
              <a:pathLst>
                <a:path w="3168156" h="1811338">
                  <a:moveTo>
                    <a:pt x="0" y="0"/>
                  </a:moveTo>
                  <a:lnTo>
                    <a:pt x="3168156" y="0"/>
                  </a:lnTo>
                  <a:lnTo>
                    <a:pt x="3168156" y="1811338"/>
                  </a:lnTo>
                  <a:lnTo>
                    <a:pt x="0" y="1811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68156" cy="1830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73854" y="0"/>
            <a:ext cx="304590" cy="10287000"/>
            <a:chOff x="0" y="0"/>
            <a:chExt cx="8022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221" cy="2709333"/>
            </a:xfrm>
            <a:custGeom>
              <a:avLst/>
              <a:gdLst/>
              <a:ahLst/>
              <a:cxnLst/>
              <a:rect l="l" t="t" r="r" b="b"/>
              <a:pathLst>
                <a:path w="80221" h="2709333">
                  <a:moveTo>
                    <a:pt x="0" y="0"/>
                  </a:moveTo>
                  <a:lnTo>
                    <a:pt x="80221" y="0"/>
                  </a:lnTo>
                  <a:lnTo>
                    <a:pt x="802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80221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619424"/>
            <a:ext cx="15982649" cy="9053718"/>
          </a:xfrm>
          <a:custGeom>
            <a:avLst/>
            <a:gdLst/>
            <a:ahLst/>
            <a:cxnLst/>
            <a:rect l="l" t="t" r="r" b="b"/>
            <a:pathLst>
              <a:path w="15982649" h="9053718">
                <a:moveTo>
                  <a:pt x="0" y="0"/>
                </a:moveTo>
                <a:lnTo>
                  <a:pt x="15982649" y="0"/>
                </a:lnTo>
                <a:lnTo>
                  <a:pt x="15982649" y="9053718"/>
                </a:lnTo>
                <a:lnTo>
                  <a:pt x="0" y="9053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20191" b="-929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2383219" y="0"/>
            <a:ext cx="7850252" cy="10287000"/>
            <a:chOff x="0" y="0"/>
            <a:chExt cx="2067556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7556" cy="2709333"/>
            </a:xfrm>
            <a:custGeom>
              <a:avLst/>
              <a:gdLst/>
              <a:ahLst/>
              <a:cxnLst/>
              <a:rect l="l" t="t" r="r" b="b"/>
              <a:pathLst>
                <a:path w="2067556" h="2709333">
                  <a:moveTo>
                    <a:pt x="0" y="0"/>
                  </a:moveTo>
                  <a:lnTo>
                    <a:pt x="2067556" y="0"/>
                  </a:lnTo>
                  <a:lnTo>
                    <a:pt x="20675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67556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338246" y="-1781"/>
            <a:ext cx="304590" cy="10287000"/>
            <a:chOff x="0" y="0"/>
            <a:chExt cx="80221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221" cy="2709333"/>
            </a:xfrm>
            <a:custGeom>
              <a:avLst/>
              <a:gdLst/>
              <a:ahLst/>
              <a:cxnLst/>
              <a:rect l="l" t="t" r="r" b="b"/>
              <a:pathLst>
                <a:path w="80221" h="2709333">
                  <a:moveTo>
                    <a:pt x="0" y="0"/>
                  </a:moveTo>
                  <a:lnTo>
                    <a:pt x="80221" y="0"/>
                  </a:lnTo>
                  <a:lnTo>
                    <a:pt x="802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0221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586728" y="81778"/>
            <a:ext cx="3863961" cy="1075292"/>
          </a:xfrm>
          <a:custGeom>
            <a:avLst/>
            <a:gdLst/>
            <a:ahLst/>
            <a:cxnLst/>
            <a:rect l="l" t="t" r="r" b="b"/>
            <a:pathLst>
              <a:path w="3863961" h="1075292">
                <a:moveTo>
                  <a:pt x="0" y="0"/>
                </a:moveTo>
                <a:lnTo>
                  <a:pt x="3863961" y="0"/>
                </a:lnTo>
                <a:lnTo>
                  <a:pt x="3863961" y="1075291"/>
                </a:lnTo>
                <a:lnTo>
                  <a:pt x="0" y="1075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844248" y="1756331"/>
            <a:ext cx="6738507" cy="144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95"/>
              </a:lnSpc>
              <a:spcBef>
                <a:spcPct val="0"/>
              </a:spcBef>
            </a:pPr>
            <a:r>
              <a:rPr lang="en-US" sz="4400" spc="137" dirty="0">
                <a:solidFill>
                  <a:srgbClr val="2C2D30"/>
                </a:solidFill>
                <a:latin typeface="Oswald"/>
                <a:ea typeface="Oswald"/>
                <a:cs typeface="Oswald"/>
                <a:sym typeface="Oswald"/>
              </a:rPr>
              <a:t>SQL HACKATHON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44248" y="3820426"/>
            <a:ext cx="5862465" cy="25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51"/>
              </a:lnSpc>
              <a:spcBef>
                <a:spcPct val="0"/>
              </a:spcBef>
            </a:pPr>
            <a:r>
              <a:rPr lang="en-US" sz="3600" spc="259" dirty="0">
                <a:solidFill>
                  <a:srgbClr val="FEFFFF"/>
                </a:solidFill>
                <a:latin typeface="Oswald"/>
                <a:ea typeface="Oswald"/>
                <a:cs typeface="Oswald"/>
                <a:sym typeface="Oswald"/>
              </a:rPr>
              <a:t>CHALLENGES &amp; LEARNINGS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192" y="0"/>
            <a:ext cx="18116808" cy="5143500"/>
          </a:xfrm>
          <a:custGeom>
            <a:avLst/>
            <a:gdLst/>
            <a:ahLst/>
            <a:cxnLst/>
            <a:rect l="l" t="t" r="r" b="b"/>
            <a:pathLst>
              <a:path w="18116808" h="5143500">
                <a:moveTo>
                  <a:pt x="0" y="0"/>
                </a:moveTo>
                <a:lnTo>
                  <a:pt x="18116808" y="0"/>
                </a:lnTo>
                <a:lnTo>
                  <a:pt x="1811680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59180" b="-583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484665" y="2365416"/>
            <a:ext cx="5226859" cy="834002"/>
            <a:chOff x="0" y="0"/>
            <a:chExt cx="665028" cy="1061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5028" cy="106112"/>
            </a:xfrm>
            <a:custGeom>
              <a:avLst/>
              <a:gdLst/>
              <a:ahLst/>
              <a:cxnLst/>
              <a:rect l="l" t="t" r="r" b="b"/>
              <a:pathLst>
                <a:path w="665028" h="106112">
                  <a:moveTo>
                    <a:pt x="0" y="0"/>
                  </a:moveTo>
                  <a:lnTo>
                    <a:pt x="665028" y="0"/>
                  </a:lnTo>
                  <a:lnTo>
                    <a:pt x="665028" y="106112"/>
                  </a:lnTo>
                  <a:lnTo>
                    <a:pt x="0" y="106112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665028" cy="125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1388" y="5143500"/>
            <a:ext cx="18288000" cy="4800885"/>
            <a:chOff x="0" y="0"/>
            <a:chExt cx="4816593" cy="1264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264431"/>
            </a:xfrm>
            <a:custGeom>
              <a:avLst/>
              <a:gdLst/>
              <a:ahLst/>
              <a:cxnLst/>
              <a:rect l="l" t="t" r="r" b="b"/>
              <a:pathLst>
                <a:path w="4816592" h="1264431">
                  <a:moveTo>
                    <a:pt x="0" y="0"/>
                  </a:moveTo>
                  <a:lnTo>
                    <a:pt x="4816592" y="0"/>
                  </a:lnTo>
                  <a:lnTo>
                    <a:pt x="4816592" y="1264431"/>
                  </a:lnTo>
                  <a:lnTo>
                    <a:pt x="0" y="1264431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816593" cy="1283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063339" y="1626392"/>
            <a:ext cx="10161322" cy="135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40"/>
              </a:lnSpc>
              <a:spcBef>
                <a:spcPct val="0"/>
              </a:spcBef>
            </a:pPr>
            <a:r>
              <a:rPr lang="en-US" sz="8072" b="1" spc="113">
                <a:solidFill>
                  <a:srgbClr val="2C2D30"/>
                </a:solidFill>
                <a:latin typeface="Oswald Bold"/>
                <a:ea typeface="Oswald Bold"/>
                <a:cs typeface="Oswald Bold"/>
                <a:sym typeface="Oswald Bold"/>
              </a:rPr>
              <a:t>OUR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744" y="6173123"/>
            <a:ext cx="7539802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946" lvl="1" indent="-381973" algn="l">
              <a:lnSpc>
                <a:spcPts val="4246"/>
              </a:lnSpc>
              <a:buFont typeface="Arial"/>
              <a:buChar char="•"/>
            </a:pPr>
            <a:r>
              <a:rPr lang="en-US" sz="3538" spc="1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Shunmugpriya Veerapandian</a:t>
            </a:r>
          </a:p>
          <a:p>
            <a:pPr marL="763946" lvl="1" indent="-381973" algn="l">
              <a:lnSpc>
                <a:spcPts val="4246"/>
              </a:lnSpc>
              <a:buFont typeface="Arial"/>
              <a:buChar char="•"/>
            </a:pPr>
            <a:r>
              <a:rPr lang="en-US" sz="3538" spc="1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Kalyani Kajjam</a:t>
            </a:r>
          </a:p>
          <a:p>
            <a:pPr marL="763946" lvl="1" indent="-381973" algn="l">
              <a:lnSpc>
                <a:spcPts val="4246"/>
              </a:lnSpc>
              <a:buFont typeface="Arial"/>
              <a:buChar char="•"/>
            </a:pPr>
            <a:r>
              <a:rPr lang="en-US" sz="3538" spc="1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Nagjyothi Mukkara</a:t>
            </a:r>
          </a:p>
          <a:p>
            <a:pPr marL="763946" lvl="1" indent="-381973" algn="l">
              <a:lnSpc>
                <a:spcPts val="4246"/>
              </a:lnSpc>
              <a:buFont typeface="Arial"/>
              <a:buChar char="•"/>
            </a:pPr>
            <a:r>
              <a:rPr lang="en-US" sz="3538" spc="1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Amita Avasthi</a:t>
            </a:r>
          </a:p>
          <a:p>
            <a:pPr marL="763946" lvl="1" indent="-381973" algn="l">
              <a:lnSpc>
                <a:spcPts val="4246"/>
              </a:lnSpc>
              <a:buFont typeface="Arial"/>
              <a:buChar char="•"/>
            </a:pPr>
            <a:r>
              <a:rPr lang="en-US" sz="3538" spc="1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Dhanshri Patel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9531" t="-1985" r="-125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437040" y="3385838"/>
            <a:ext cx="2072870" cy="11032885"/>
            <a:chOff x="0" y="0"/>
            <a:chExt cx="545941" cy="29057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5941" cy="2905781"/>
            </a:xfrm>
            <a:custGeom>
              <a:avLst/>
              <a:gdLst/>
              <a:ahLst/>
              <a:cxnLst/>
              <a:rect l="l" t="t" r="r" b="b"/>
              <a:pathLst>
                <a:path w="545941" h="2905781">
                  <a:moveTo>
                    <a:pt x="0" y="0"/>
                  </a:moveTo>
                  <a:lnTo>
                    <a:pt x="545941" y="0"/>
                  </a:lnTo>
                  <a:lnTo>
                    <a:pt x="545941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45941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5689" y="-2130605"/>
            <a:ext cx="2128274" cy="11032885"/>
            <a:chOff x="0" y="0"/>
            <a:chExt cx="560533" cy="29057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0533" cy="2905781"/>
            </a:xfrm>
            <a:custGeom>
              <a:avLst/>
              <a:gdLst/>
              <a:ahLst/>
              <a:cxnLst/>
              <a:rect l="l" t="t" r="r" b="b"/>
              <a:pathLst>
                <a:path w="560533" h="2905781">
                  <a:moveTo>
                    <a:pt x="0" y="0"/>
                  </a:moveTo>
                  <a:lnTo>
                    <a:pt x="560533" y="0"/>
                  </a:lnTo>
                  <a:lnTo>
                    <a:pt x="560533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0533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50938" y="1976945"/>
            <a:ext cx="14186124" cy="7949687"/>
            <a:chOff x="0" y="0"/>
            <a:chExt cx="5498356" cy="30811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98356" cy="3081195"/>
            </a:xfrm>
            <a:custGeom>
              <a:avLst/>
              <a:gdLst/>
              <a:ahLst/>
              <a:cxnLst/>
              <a:rect l="l" t="t" r="r" b="b"/>
              <a:pathLst>
                <a:path w="5498356" h="3081195">
                  <a:moveTo>
                    <a:pt x="0" y="0"/>
                  </a:moveTo>
                  <a:lnTo>
                    <a:pt x="5498356" y="0"/>
                  </a:lnTo>
                  <a:lnTo>
                    <a:pt x="5498356" y="3081195"/>
                  </a:lnTo>
                  <a:lnTo>
                    <a:pt x="0" y="3081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498356" cy="310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-24922" r="-249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2689827" y="358445"/>
            <a:ext cx="14569473" cy="89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76"/>
              </a:lnSpc>
              <a:spcBef>
                <a:spcPct val="0"/>
              </a:spcBef>
            </a:pPr>
            <a:r>
              <a:rPr lang="en-US" sz="5490" spc="76" dirty="0">
                <a:solidFill>
                  <a:srgbClr val="FEFFFF"/>
                </a:solidFill>
                <a:latin typeface="Oswald"/>
                <a:ea typeface="Oswald"/>
                <a:cs typeface="Oswald"/>
                <a:sym typeface="Oswald"/>
              </a:rPr>
              <a:t>CHALLENGE 1: DATA INTEGRITY💪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97502" y="2607984"/>
            <a:ext cx="14023777" cy="580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r>
              <a:rPr lang="en-US" sz="3600" b="1" dirty="0"/>
              <a:t>     Detecting and Removing Duplicate Records</a:t>
            </a:r>
            <a:br>
              <a:rPr lang="en-US" dirty="0"/>
            </a:br>
            <a:r>
              <a:rPr lang="en-US" sz="2000" dirty="0"/>
              <a:t>         </a:t>
            </a:r>
            <a:r>
              <a:rPr lang="en-US" sz="2000" b="1" dirty="0"/>
              <a:t>Challenge:</a:t>
            </a:r>
            <a:r>
              <a:rPr lang="en-US" sz="2000" dirty="0"/>
              <a:t> Some wearables recorded multiple entries for the same timestamp due to device sync issues.</a:t>
            </a:r>
          </a:p>
          <a:p>
            <a:r>
              <a:rPr lang="en-US" sz="2000" b="1" dirty="0"/>
              <a:t>         Action:</a:t>
            </a:r>
            <a:r>
              <a:rPr lang="en-US" sz="2000" dirty="0"/>
              <a:t> Used SQL window functions to identify and remove duplicates.</a:t>
            </a:r>
          </a:p>
          <a:p>
            <a:endParaRPr lang="en-US" dirty="0"/>
          </a:p>
          <a:p>
            <a:pPr lvl="1"/>
            <a:r>
              <a:rPr lang="en-US" sz="3600" b="1" dirty="0"/>
              <a:t>Referential Integrity Between Tables</a:t>
            </a:r>
            <a:br>
              <a:rPr lang="en-US" dirty="0"/>
            </a:br>
            <a:r>
              <a:rPr lang="en-US" sz="2000" dirty="0"/>
              <a:t> </a:t>
            </a:r>
            <a:r>
              <a:rPr lang="en-US" sz="2000" b="1" dirty="0"/>
              <a:t>Challenge:</a:t>
            </a:r>
            <a:r>
              <a:rPr lang="en-US" sz="2000" dirty="0"/>
              <a:t> Ensuring that every glucose or EDA record had a valid corresponding patient in the </a:t>
            </a:r>
            <a:r>
              <a:rPr lang="en-US" sz="2000" b="1" dirty="0"/>
              <a:t>Demography</a:t>
            </a:r>
            <a:r>
              <a:rPr lang="en-US" sz="2000" dirty="0"/>
              <a:t> table.</a:t>
            </a:r>
          </a:p>
          <a:p>
            <a:pPr lvl="1"/>
            <a:r>
              <a:rPr lang="en-US" sz="2000" b="1" dirty="0"/>
              <a:t> Action:</a:t>
            </a:r>
            <a:r>
              <a:rPr lang="en-US" sz="2000" dirty="0"/>
              <a:t> Enforced foreign key relationships or validated manually.</a:t>
            </a:r>
          </a:p>
          <a:p>
            <a:pPr lvl="1"/>
            <a:endParaRPr lang="en-US" sz="2000" dirty="0"/>
          </a:p>
          <a:p>
            <a:pPr lvl="1"/>
            <a:r>
              <a:rPr lang="en-US" sz="3600" b="1" dirty="0"/>
              <a:t>Handling Missing or Null Values</a:t>
            </a:r>
            <a:br>
              <a:rPr lang="en-US" dirty="0"/>
            </a:br>
            <a:r>
              <a:rPr lang="en-US" sz="2000" b="1" dirty="0"/>
              <a:t>Challenge:</a:t>
            </a:r>
            <a:r>
              <a:rPr lang="en-US" sz="2000" dirty="0"/>
              <a:t> Incomplete data due to device disconnection or user non-compliance.</a:t>
            </a:r>
          </a:p>
          <a:p>
            <a:pPr lvl="1"/>
            <a:r>
              <a:rPr lang="en-US" sz="2000" b="1" dirty="0"/>
              <a:t>Action:</a:t>
            </a:r>
            <a:r>
              <a:rPr lang="en-US" sz="2000" dirty="0"/>
              <a:t> Identified and imputed or excluded missing values based on the context.</a:t>
            </a:r>
          </a:p>
          <a:p>
            <a:pPr lvl="1"/>
            <a:endParaRPr lang="en-US" dirty="0"/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E3E71-E123-579A-2D29-3C860167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57EAB2-950D-DD00-D208-351614E4BD5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-9531" t="-1985" r="-125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4D9179A-9B49-F6AF-9D4B-CD8829022CC7}"/>
              </a:ext>
            </a:extLst>
          </p:cNvPr>
          <p:cNvGrpSpPr/>
          <p:nvPr/>
        </p:nvGrpSpPr>
        <p:grpSpPr>
          <a:xfrm>
            <a:off x="14437040" y="3385838"/>
            <a:ext cx="2072870" cy="11032885"/>
            <a:chOff x="0" y="0"/>
            <a:chExt cx="545941" cy="290578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1BB3AA-A525-D04F-F584-B477D6CB6B90}"/>
                </a:ext>
              </a:extLst>
            </p:cNvPr>
            <p:cNvSpPr/>
            <p:nvPr/>
          </p:nvSpPr>
          <p:spPr>
            <a:xfrm>
              <a:off x="0" y="0"/>
              <a:ext cx="545941" cy="2905781"/>
            </a:xfrm>
            <a:custGeom>
              <a:avLst/>
              <a:gdLst/>
              <a:ahLst/>
              <a:cxnLst/>
              <a:rect l="l" t="t" r="r" b="b"/>
              <a:pathLst>
                <a:path w="545941" h="2905781">
                  <a:moveTo>
                    <a:pt x="0" y="0"/>
                  </a:moveTo>
                  <a:lnTo>
                    <a:pt x="545941" y="0"/>
                  </a:lnTo>
                  <a:lnTo>
                    <a:pt x="545941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12DAF81-D957-FAAB-BEF2-C0A2B65D5F94}"/>
                </a:ext>
              </a:extLst>
            </p:cNvPr>
            <p:cNvSpPr txBox="1"/>
            <p:nvPr/>
          </p:nvSpPr>
          <p:spPr>
            <a:xfrm>
              <a:off x="0" y="-19050"/>
              <a:ext cx="545941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F77D085-68CC-5235-83CD-7D2638A9D7EF}"/>
              </a:ext>
            </a:extLst>
          </p:cNvPr>
          <p:cNvGrpSpPr/>
          <p:nvPr/>
        </p:nvGrpSpPr>
        <p:grpSpPr>
          <a:xfrm>
            <a:off x="1625689" y="-2130605"/>
            <a:ext cx="2128274" cy="11032885"/>
            <a:chOff x="0" y="0"/>
            <a:chExt cx="560533" cy="29057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7D27D6-3FD1-A209-0ECC-0191D5752B6E}"/>
                </a:ext>
              </a:extLst>
            </p:cNvPr>
            <p:cNvSpPr/>
            <p:nvPr/>
          </p:nvSpPr>
          <p:spPr>
            <a:xfrm>
              <a:off x="0" y="0"/>
              <a:ext cx="560533" cy="2905781"/>
            </a:xfrm>
            <a:custGeom>
              <a:avLst/>
              <a:gdLst/>
              <a:ahLst/>
              <a:cxnLst/>
              <a:rect l="l" t="t" r="r" b="b"/>
              <a:pathLst>
                <a:path w="560533" h="2905781">
                  <a:moveTo>
                    <a:pt x="0" y="0"/>
                  </a:moveTo>
                  <a:lnTo>
                    <a:pt x="560533" y="0"/>
                  </a:lnTo>
                  <a:lnTo>
                    <a:pt x="560533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2D05387-7C29-1508-54B5-F5AE7BE33674}"/>
                </a:ext>
              </a:extLst>
            </p:cNvPr>
            <p:cNvSpPr txBox="1"/>
            <p:nvPr/>
          </p:nvSpPr>
          <p:spPr>
            <a:xfrm>
              <a:off x="0" y="-19050"/>
              <a:ext cx="560533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01A6E78-505F-0A69-E084-80E5009CC299}"/>
              </a:ext>
            </a:extLst>
          </p:cNvPr>
          <p:cNvGrpSpPr/>
          <p:nvPr/>
        </p:nvGrpSpPr>
        <p:grpSpPr>
          <a:xfrm>
            <a:off x="2050938" y="1976945"/>
            <a:ext cx="14186124" cy="7949687"/>
            <a:chOff x="0" y="0"/>
            <a:chExt cx="5498356" cy="30811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8C741E-88C0-8EE6-6769-D3BE4F30976D}"/>
                </a:ext>
              </a:extLst>
            </p:cNvPr>
            <p:cNvSpPr/>
            <p:nvPr/>
          </p:nvSpPr>
          <p:spPr>
            <a:xfrm>
              <a:off x="0" y="0"/>
              <a:ext cx="5498356" cy="3081195"/>
            </a:xfrm>
            <a:custGeom>
              <a:avLst/>
              <a:gdLst/>
              <a:ahLst/>
              <a:cxnLst/>
              <a:rect l="l" t="t" r="r" b="b"/>
              <a:pathLst>
                <a:path w="5498356" h="3081195">
                  <a:moveTo>
                    <a:pt x="0" y="0"/>
                  </a:moveTo>
                  <a:lnTo>
                    <a:pt x="5498356" y="0"/>
                  </a:lnTo>
                  <a:lnTo>
                    <a:pt x="5498356" y="3081195"/>
                  </a:lnTo>
                  <a:lnTo>
                    <a:pt x="0" y="3081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81B1942-E72E-D966-DEC1-1E15193D2E06}"/>
                </a:ext>
              </a:extLst>
            </p:cNvPr>
            <p:cNvSpPr txBox="1"/>
            <p:nvPr/>
          </p:nvSpPr>
          <p:spPr>
            <a:xfrm>
              <a:off x="0" y="-19050"/>
              <a:ext cx="5498356" cy="310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F4E6881-89F1-9073-F07A-00C03F20155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 l="-24922" r="-249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BFBEC63-9DE7-2C6B-94B0-70FE898AFE1E}"/>
              </a:ext>
            </a:extLst>
          </p:cNvPr>
          <p:cNvSpPr txBox="1"/>
          <p:nvPr/>
        </p:nvSpPr>
        <p:spPr>
          <a:xfrm>
            <a:off x="2689827" y="358445"/>
            <a:ext cx="14569473" cy="89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76"/>
              </a:lnSpc>
              <a:spcBef>
                <a:spcPct val="0"/>
              </a:spcBef>
            </a:pPr>
            <a:r>
              <a:rPr lang="en-US" sz="5490" spc="76" dirty="0">
                <a:solidFill>
                  <a:srgbClr val="FEFFFF"/>
                </a:solidFill>
                <a:latin typeface="Oswald"/>
                <a:ea typeface="Oswald"/>
                <a:cs typeface="Oswald"/>
                <a:sym typeface="Oswald"/>
              </a:rPr>
              <a:t>CHALLENGE 2: DATA QUALITY💪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31E3A822-4751-0041-49E8-8BF0FFC9E293}"/>
              </a:ext>
            </a:extLst>
          </p:cNvPr>
          <p:cNvSpPr txBox="1"/>
          <p:nvPr/>
        </p:nvSpPr>
        <p:spPr>
          <a:xfrm>
            <a:off x="2050938" y="2607984"/>
            <a:ext cx="14570341" cy="3869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r>
              <a:rPr lang="en-US" sz="2400" b="1" dirty="0"/>
              <a:t>      </a:t>
            </a:r>
            <a:r>
              <a:rPr lang="en-US" sz="3600" b="1" dirty="0"/>
              <a:t>Defining Complex Cohorts</a:t>
            </a:r>
            <a:br>
              <a:rPr lang="en-US" dirty="0"/>
            </a:br>
            <a:r>
              <a:rPr lang="en-US" sz="2000" dirty="0"/>
              <a:t>         </a:t>
            </a:r>
            <a:r>
              <a:rPr lang="en-US" sz="2000" b="1" dirty="0"/>
              <a:t>Challenge:</a:t>
            </a:r>
            <a:r>
              <a:rPr lang="en-US" sz="2000" dirty="0"/>
              <a:t> Needed patient groups with valid data across multiple sensors simultaneously.</a:t>
            </a:r>
          </a:p>
          <a:p>
            <a:r>
              <a:rPr lang="en-US" sz="2000" b="1" dirty="0"/>
              <a:t>         Action:</a:t>
            </a:r>
            <a:r>
              <a:rPr lang="en-US" sz="2000" dirty="0"/>
              <a:t> Used </a:t>
            </a:r>
            <a:r>
              <a:rPr lang="en-US" sz="2000" b="1" dirty="0"/>
              <a:t>UNION</a:t>
            </a:r>
            <a:r>
              <a:rPr lang="en-US" sz="2000" dirty="0"/>
              <a:t> and </a:t>
            </a:r>
            <a:r>
              <a:rPr lang="en-US" sz="2000" b="1" dirty="0"/>
              <a:t>INTERSECT</a:t>
            </a:r>
            <a:r>
              <a:rPr lang="en-US" sz="2000" dirty="0"/>
              <a:t> to define clean patient cohorts for combined HR and IBI studies.</a:t>
            </a:r>
          </a:p>
          <a:p>
            <a:endParaRPr lang="en-US" dirty="0"/>
          </a:p>
          <a:p>
            <a:pPr lvl="1"/>
            <a:r>
              <a:rPr lang="en-US" sz="3600" b="1" dirty="0"/>
              <a:t>Calculating Time-Based Gaps</a:t>
            </a:r>
            <a:br>
              <a:rPr lang="en-US" dirty="0"/>
            </a:br>
            <a:r>
              <a:rPr lang="en-US" sz="2000" dirty="0"/>
              <a:t> </a:t>
            </a:r>
            <a:r>
              <a:rPr lang="en-US" sz="2000" b="1" dirty="0"/>
              <a:t>Challenge:</a:t>
            </a:r>
            <a:r>
              <a:rPr lang="en-US" sz="2000" dirty="0"/>
              <a:t> Measuring the duration between sequential events (e.g., from spike to recovery)..</a:t>
            </a:r>
          </a:p>
          <a:p>
            <a:pPr lvl="1"/>
            <a:r>
              <a:rPr lang="en-US" sz="2000" b="1" dirty="0"/>
              <a:t> Action:</a:t>
            </a:r>
            <a:r>
              <a:rPr lang="en-US" sz="2000" dirty="0"/>
              <a:t> Used </a:t>
            </a:r>
            <a:r>
              <a:rPr lang="en-US" sz="2000" b="1" dirty="0"/>
              <a:t>DATE/TIME Ops</a:t>
            </a:r>
            <a:r>
              <a:rPr lang="en-US" sz="2000" dirty="0"/>
              <a:t> (INTERVAL, EXTRACT) for precise event windowing and gap calculation.</a:t>
            </a:r>
          </a:p>
          <a:p>
            <a:pPr lvl="1"/>
            <a:endParaRPr lang="en-US" sz="2000" dirty="0"/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70134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118B0-5008-DBC1-2DAE-7186209E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274363-D96A-80FC-95D7-CD42AF20D8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9531" t="-1985" r="-125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6FB5E2-3701-177D-E85B-C8E497AC4541}"/>
              </a:ext>
            </a:extLst>
          </p:cNvPr>
          <p:cNvGrpSpPr/>
          <p:nvPr/>
        </p:nvGrpSpPr>
        <p:grpSpPr>
          <a:xfrm>
            <a:off x="14437040" y="3385838"/>
            <a:ext cx="2072870" cy="11032885"/>
            <a:chOff x="0" y="0"/>
            <a:chExt cx="545941" cy="290578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4B5A4A-BF40-9F98-CF93-48C740956A0A}"/>
                </a:ext>
              </a:extLst>
            </p:cNvPr>
            <p:cNvSpPr/>
            <p:nvPr/>
          </p:nvSpPr>
          <p:spPr>
            <a:xfrm>
              <a:off x="0" y="0"/>
              <a:ext cx="545941" cy="2905781"/>
            </a:xfrm>
            <a:custGeom>
              <a:avLst/>
              <a:gdLst/>
              <a:ahLst/>
              <a:cxnLst/>
              <a:rect l="l" t="t" r="r" b="b"/>
              <a:pathLst>
                <a:path w="545941" h="2905781">
                  <a:moveTo>
                    <a:pt x="0" y="0"/>
                  </a:moveTo>
                  <a:lnTo>
                    <a:pt x="545941" y="0"/>
                  </a:lnTo>
                  <a:lnTo>
                    <a:pt x="545941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604B4F2-E7EF-298A-F02C-AA5985A0FA65}"/>
                </a:ext>
              </a:extLst>
            </p:cNvPr>
            <p:cNvSpPr txBox="1"/>
            <p:nvPr/>
          </p:nvSpPr>
          <p:spPr>
            <a:xfrm>
              <a:off x="0" y="-19050"/>
              <a:ext cx="545941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4792FA2-05D9-8FA2-D6CC-B62A67062A08}"/>
              </a:ext>
            </a:extLst>
          </p:cNvPr>
          <p:cNvGrpSpPr/>
          <p:nvPr/>
        </p:nvGrpSpPr>
        <p:grpSpPr>
          <a:xfrm>
            <a:off x="1625689" y="-2130605"/>
            <a:ext cx="2128274" cy="11032885"/>
            <a:chOff x="0" y="0"/>
            <a:chExt cx="560533" cy="29057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97B40CD-E5CA-A62E-7EA6-59EDF5CF28C4}"/>
                </a:ext>
              </a:extLst>
            </p:cNvPr>
            <p:cNvSpPr/>
            <p:nvPr/>
          </p:nvSpPr>
          <p:spPr>
            <a:xfrm>
              <a:off x="0" y="0"/>
              <a:ext cx="560533" cy="2905781"/>
            </a:xfrm>
            <a:custGeom>
              <a:avLst/>
              <a:gdLst/>
              <a:ahLst/>
              <a:cxnLst/>
              <a:rect l="l" t="t" r="r" b="b"/>
              <a:pathLst>
                <a:path w="560533" h="2905781">
                  <a:moveTo>
                    <a:pt x="0" y="0"/>
                  </a:moveTo>
                  <a:lnTo>
                    <a:pt x="560533" y="0"/>
                  </a:lnTo>
                  <a:lnTo>
                    <a:pt x="560533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5CAFF36-DA03-B449-20FD-0F828B12510C}"/>
                </a:ext>
              </a:extLst>
            </p:cNvPr>
            <p:cNvSpPr txBox="1"/>
            <p:nvPr/>
          </p:nvSpPr>
          <p:spPr>
            <a:xfrm>
              <a:off x="0" y="-19050"/>
              <a:ext cx="560533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1632413-9B20-BC67-9626-2589DF0DF81C}"/>
              </a:ext>
            </a:extLst>
          </p:cNvPr>
          <p:cNvGrpSpPr/>
          <p:nvPr/>
        </p:nvGrpSpPr>
        <p:grpSpPr>
          <a:xfrm>
            <a:off x="2050938" y="1976945"/>
            <a:ext cx="14186124" cy="7949687"/>
            <a:chOff x="0" y="0"/>
            <a:chExt cx="5498356" cy="30811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22CA874-2194-517D-499F-7DF116BEDAD9}"/>
                </a:ext>
              </a:extLst>
            </p:cNvPr>
            <p:cNvSpPr/>
            <p:nvPr/>
          </p:nvSpPr>
          <p:spPr>
            <a:xfrm>
              <a:off x="0" y="0"/>
              <a:ext cx="5498356" cy="3081195"/>
            </a:xfrm>
            <a:custGeom>
              <a:avLst/>
              <a:gdLst/>
              <a:ahLst/>
              <a:cxnLst/>
              <a:rect l="l" t="t" r="r" b="b"/>
              <a:pathLst>
                <a:path w="5498356" h="3081195">
                  <a:moveTo>
                    <a:pt x="0" y="0"/>
                  </a:moveTo>
                  <a:lnTo>
                    <a:pt x="5498356" y="0"/>
                  </a:lnTo>
                  <a:lnTo>
                    <a:pt x="5498356" y="3081195"/>
                  </a:lnTo>
                  <a:lnTo>
                    <a:pt x="0" y="3081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87C812D-238D-902F-FEA3-6FBD4D487CF1}"/>
                </a:ext>
              </a:extLst>
            </p:cNvPr>
            <p:cNvSpPr txBox="1"/>
            <p:nvPr/>
          </p:nvSpPr>
          <p:spPr>
            <a:xfrm>
              <a:off x="0" y="-19050"/>
              <a:ext cx="5498356" cy="310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0BB1E9B8-1B9C-360F-0F9D-A6BA1E65377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-24922" r="-249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E27E6D0-74A5-9C1A-FBE9-B50D0EE06A76}"/>
              </a:ext>
            </a:extLst>
          </p:cNvPr>
          <p:cNvSpPr txBox="1"/>
          <p:nvPr/>
        </p:nvSpPr>
        <p:spPr>
          <a:xfrm>
            <a:off x="2689827" y="358445"/>
            <a:ext cx="14569473" cy="89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76"/>
              </a:lnSpc>
              <a:spcBef>
                <a:spcPct val="0"/>
              </a:spcBef>
            </a:pPr>
            <a:r>
              <a:rPr lang="en-US" sz="5490" spc="76" dirty="0">
                <a:solidFill>
                  <a:srgbClr val="FEFFFF"/>
                </a:solidFill>
                <a:latin typeface="Oswald"/>
                <a:ea typeface="Oswald"/>
                <a:cs typeface="Oswald"/>
                <a:sym typeface="Oswald"/>
              </a:rPr>
              <a:t>CHALLENGE 3: Complex Queries💪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1C3A3E98-A4CA-2EF1-FEB8-C4670AE62B54}"/>
              </a:ext>
            </a:extLst>
          </p:cNvPr>
          <p:cNvSpPr txBox="1"/>
          <p:nvPr/>
        </p:nvSpPr>
        <p:spPr>
          <a:xfrm>
            <a:off x="2050938" y="2607984"/>
            <a:ext cx="14570341" cy="503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r>
              <a:rPr lang="en-US" sz="2400" b="1" dirty="0"/>
              <a:t>      </a:t>
            </a:r>
            <a:r>
              <a:rPr lang="en-US" sz="3600" b="1" dirty="0"/>
              <a:t>Sequential Pattern Tracking</a:t>
            </a:r>
            <a:br>
              <a:rPr lang="en-US" dirty="0"/>
            </a:br>
            <a:r>
              <a:rPr lang="en-US" sz="2000" dirty="0"/>
              <a:t>         </a:t>
            </a:r>
            <a:r>
              <a:rPr lang="en-US" sz="2000" b="1" dirty="0"/>
              <a:t>Challenge:</a:t>
            </a:r>
            <a:r>
              <a:rPr lang="en-US" sz="2000" dirty="0"/>
              <a:t> Modeling events that happen in a chain (e.g., EDA rising over 3 consecutive readings)</a:t>
            </a:r>
          </a:p>
          <a:p>
            <a:r>
              <a:rPr lang="en-US" sz="2000" b="1" dirty="0"/>
              <a:t>         Action:</a:t>
            </a:r>
            <a:r>
              <a:rPr lang="en-US" sz="2000" dirty="0"/>
              <a:t> Implemented </a:t>
            </a:r>
            <a:r>
              <a:rPr lang="en-US" sz="2000" b="1" dirty="0"/>
              <a:t>RECURSIVE CTEs</a:t>
            </a:r>
            <a:r>
              <a:rPr lang="en-US" sz="2000" dirty="0"/>
              <a:t> to track complex escalating physiological sequences over time.</a:t>
            </a:r>
          </a:p>
          <a:p>
            <a:endParaRPr lang="en-US" dirty="0"/>
          </a:p>
          <a:p>
            <a:pPr lvl="1"/>
            <a:r>
              <a:rPr lang="en-US" sz="3600" b="1" dirty="0"/>
              <a:t>High-Performance Lookups</a:t>
            </a:r>
            <a:br>
              <a:rPr lang="en-US" dirty="0"/>
            </a:br>
            <a:r>
              <a:rPr lang="en-US" sz="2000" dirty="0"/>
              <a:t> </a:t>
            </a:r>
            <a:r>
              <a:rPr lang="en-US" sz="2000" b="1" dirty="0"/>
              <a:t>Challenge: </a:t>
            </a:r>
            <a:r>
              <a:rPr lang="en-US" sz="2000" dirty="0"/>
              <a:t>Finding the exact moment a patient recovered after a low Glucose event.</a:t>
            </a:r>
          </a:p>
          <a:p>
            <a:pPr lvl="1"/>
            <a:r>
              <a:rPr lang="en-US" sz="2000" b="1" dirty="0"/>
              <a:t> Action:</a:t>
            </a:r>
            <a:r>
              <a:rPr lang="en-US" sz="2000" dirty="0"/>
              <a:t> Solved the </a:t>
            </a:r>
            <a:r>
              <a:rPr lang="en-US" sz="2000" b="1" dirty="0"/>
              <a:t>Glucose Recovery Time</a:t>
            </a:r>
            <a:r>
              <a:rPr lang="en-US" sz="2000" dirty="0"/>
              <a:t> problem using the highly efficient </a:t>
            </a:r>
            <a:r>
              <a:rPr lang="en-US" sz="2000" b="1" dirty="0"/>
              <a:t>CROSS JOIN LATERAL</a:t>
            </a:r>
            <a:r>
              <a:rPr lang="en-US" sz="2000" dirty="0"/>
              <a:t> with LIMIT 1.</a:t>
            </a:r>
          </a:p>
          <a:p>
            <a:pPr lvl="1"/>
            <a:endParaRPr lang="en-US" sz="2000" dirty="0"/>
          </a:p>
          <a:p>
            <a:pPr lvl="1"/>
            <a:r>
              <a:rPr lang="en-US" sz="3600" b="1" dirty="0"/>
              <a:t>Advanced Patient Ranking</a:t>
            </a:r>
            <a:br>
              <a:rPr lang="en-US" dirty="0"/>
            </a:br>
            <a:r>
              <a:rPr lang="en-US" sz="2000" b="1" dirty="0"/>
              <a:t>Challenge:</a:t>
            </a:r>
            <a:r>
              <a:rPr lang="en-US" sz="2000" dirty="0"/>
              <a:t> Converting rows of raw data into clinical, human-readable columns (pivot tables). </a:t>
            </a:r>
          </a:p>
          <a:p>
            <a:pPr lvl="1"/>
            <a:r>
              <a:rPr lang="en-US" sz="2000" b="1" dirty="0"/>
              <a:t>Action:</a:t>
            </a:r>
            <a:r>
              <a:rPr lang="en-US" sz="2000" dirty="0"/>
              <a:t> Used </a:t>
            </a:r>
            <a:r>
              <a:rPr lang="en-US" sz="2000" b="1" dirty="0"/>
              <a:t>CROSSTAB</a:t>
            </a:r>
            <a:r>
              <a:rPr lang="en-US" sz="2000" dirty="0"/>
              <a:t> to transform data into reports comparing Glucose levels across Morning/Night time blocks.</a:t>
            </a: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B5FBB-6376-ECEC-A35F-E5362E63D78B}"/>
              </a:ext>
            </a:extLst>
          </p:cNvPr>
          <p:cNvSpPr txBox="1"/>
          <p:nvPr/>
        </p:nvSpPr>
        <p:spPr>
          <a:xfrm>
            <a:off x="12801600" y="86487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 …</a:t>
            </a:r>
          </a:p>
        </p:txBody>
      </p:sp>
    </p:spTree>
    <p:extLst>
      <p:ext uri="{BB962C8B-B14F-4D97-AF65-F5344CB8AC3E}">
        <p14:creationId xmlns:p14="http://schemas.microsoft.com/office/powerpoint/2010/main" val="188312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A2FA7-ECE3-FB58-578B-2737CFAD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2479E1-4DC3-5E25-72F4-EE1CBF1084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9531" t="-1985" r="-125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CDD5D6-D25F-9A52-DCA2-EBD14B5917A1}"/>
              </a:ext>
            </a:extLst>
          </p:cNvPr>
          <p:cNvGrpSpPr/>
          <p:nvPr/>
        </p:nvGrpSpPr>
        <p:grpSpPr>
          <a:xfrm>
            <a:off x="14437040" y="3385838"/>
            <a:ext cx="2072870" cy="11032885"/>
            <a:chOff x="0" y="0"/>
            <a:chExt cx="545941" cy="290578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A29148-5A10-3B3C-0DCC-C8F657B480A9}"/>
                </a:ext>
              </a:extLst>
            </p:cNvPr>
            <p:cNvSpPr/>
            <p:nvPr/>
          </p:nvSpPr>
          <p:spPr>
            <a:xfrm>
              <a:off x="0" y="0"/>
              <a:ext cx="545941" cy="2905781"/>
            </a:xfrm>
            <a:custGeom>
              <a:avLst/>
              <a:gdLst/>
              <a:ahLst/>
              <a:cxnLst/>
              <a:rect l="l" t="t" r="r" b="b"/>
              <a:pathLst>
                <a:path w="545941" h="2905781">
                  <a:moveTo>
                    <a:pt x="0" y="0"/>
                  </a:moveTo>
                  <a:lnTo>
                    <a:pt x="545941" y="0"/>
                  </a:lnTo>
                  <a:lnTo>
                    <a:pt x="545941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A9F654-701A-8F6F-82EA-D927A3630F23}"/>
                </a:ext>
              </a:extLst>
            </p:cNvPr>
            <p:cNvSpPr txBox="1"/>
            <p:nvPr/>
          </p:nvSpPr>
          <p:spPr>
            <a:xfrm>
              <a:off x="0" y="-19050"/>
              <a:ext cx="545941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B794ECA-C40E-19E1-A901-EBD9BBDC84FF}"/>
              </a:ext>
            </a:extLst>
          </p:cNvPr>
          <p:cNvGrpSpPr/>
          <p:nvPr/>
        </p:nvGrpSpPr>
        <p:grpSpPr>
          <a:xfrm>
            <a:off x="1625689" y="-2130605"/>
            <a:ext cx="2128274" cy="11032885"/>
            <a:chOff x="0" y="0"/>
            <a:chExt cx="560533" cy="29057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0A348BD-B83A-6F1F-29DC-A3CB6483F5DF}"/>
                </a:ext>
              </a:extLst>
            </p:cNvPr>
            <p:cNvSpPr/>
            <p:nvPr/>
          </p:nvSpPr>
          <p:spPr>
            <a:xfrm>
              <a:off x="0" y="0"/>
              <a:ext cx="560533" cy="2905781"/>
            </a:xfrm>
            <a:custGeom>
              <a:avLst/>
              <a:gdLst/>
              <a:ahLst/>
              <a:cxnLst/>
              <a:rect l="l" t="t" r="r" b="b"/>
              <a:pathLst>
                <a:path w="560533" h="2905781">
                  <a:moveTo>
                    <a:pt x="0" y="0"/>
                  </a:moveTo>
                  <a:lnTo>
                    <a:pt x="560533" y="0"/>
                  </a:lnTo>
                  <a:lnTo>
                    <a:pt x="560533" y="2905781"/>
                  </a:lnTo>
                  <a:lnTo>
                    <a:pt x="0" y="290578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44EDE03-6409-9477-A404-9B67B707AEA2}"/>
                </a:ext>
              </a:extLst>
            </p:cNvPr>
            <p:cNvSpPr txBox="1"/>
            <p:nvPr/>
          </p:nvSpPr>
          <p:spPr>
            <a:xfrm>
              <a:off x="0" y="-19050"/>
              <a:ext cx="560533" cy="292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2DC0DAB-6839-5553-F7B5-15F8730420EB}"/>
              </a:ext>
            </a:extLst>
          </p:cNvPr>
          <p:cNvGrpSpPr/>
          <p:nvPr/>
        </p:nvGrpSpPr>
        <p:grpSpPr>
          <a:xfrm>
            <a:off x="2050938" y="1976945"/>
            <a:ext cx="14186124" cy="7949687"/>
            <a:chOff x="0" y="0"/>
            <a:chExt cx="5498356" cy="30811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9833044-C834-7736-0920-984D91A7C60B}"/>
                </a:ext>
              </a:extLst>
            </p:cNvPr>
            <p:cNvSpPr/>
            <p:nvPr/>
          </p:nvSpPr>
          <p:spPr>
            <a:xfrm>
              <a:off x="0" y="0"/>
              <a:ext cx="5498356" cy="3081195"/>
            </a:xfrm>
            <a:custGeom>
              <a:avLst/>
              <a:gdLst/>
              <a:ahLst/>
              <a:cxnLst/>
              <a:rect l="l" t="t" r="r" b="b"/>
              <a:pathLst>
                <a:path w="5498356" h="3081195">
                  <a:moveTo>
                    <a:pt x="0" y="0"/>
                  </a:moveTo>
                  <a:lnTo>
                    <a:pt x="5498356" y="0"/>
                  </a:lnTo>
                  <a:lnTo>
                    <a:pt x="5498356" y="3081195"/>
                  </a:lnTo>
                  <a:lnTo>
                    <a:pt x="0" y="3081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7195B92-2FB7-9E44-9718-1CA5D945F330}"/>
                </a:ext>
              </a:extLst>
            </p:cNvPr>
            <p:cNvSpPr txBox="1"/>
            <p:nvPr/>
          </p:nvSpPr>
          <p:spPr>
            <a:xfrm>
              <a:off x="0" y="-19050"/>
              <a:ext cx="5498356" cy="310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2D64317-EA99-6DFD-8531-DA8B3DE0BE0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-24922" r="-249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C5C0E08-ECEC-7246-C618-A0B40B26053A}"/>
              </a:ext>
            </a:extLst>
          </p:cNvPr>
          <p:cNvSpPr txBox="1"/>
          <p:nvPr/>
        </p:nvSpPr>
        <p:spPr>
          <a:xfrm>
            <a:off x="2689827" y="358445"/>
            <a:ext cx="14569473" cy="89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76"/>
              </a:lnSpc>
              <a:spcBef>
                <a:spcPct val="0"/>
              </a:spcBef>
            </a:pPr>
            <a:r>
              <a:rPr lang="en-US" sz="5490" spc="76" dirty="0">
                <a:solidFill>
                  <a:srgbClr val="FEFFFF"/>
                </a:solidFill>
                <a:latin typeface="Oswald"/>
                <a:ea typeface="Oswald"/>
                <a:cs typeface="Oswald"/>
                <a:sym typeface="Oswald"/>
              </a:rPr>
              <a:t>CHALLENGE 3: Complex Queries💪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038171B9-7DD7-C507-CF37-A6B14282B639}"/>
              </a:ext>
            </a:extLst>
          </p:cNvPr>
          <p:cNvSpPr txBox="1"/>
          <p:nvPr/>
        </p:nvSpPr>
        <p:spPr>
          <a:xfrm>
            <a:off x="2050938" y="2607984"/>
            <a:ext cx="14570341" cy="94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 b="1" dirty="0">
              <a:solidFill>
                <a:srgbClr val="FFCB13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1CC809-1F1E-B8EC-95F6-F500975C3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857500"/>
            <a:ext cx="8434387" cy="64982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81A8A8-B24A-1476-63FC-B78A185E58B9}"/>
              </a:ext>
            </a:extLst>
          </p:cNvPr>
          <p:cNvSpPr txBox="1"/>
          <p:nvPr/>
        </p:nvSpPr>
        <p:spPr>
          <a:xfrm>
            <a:off x="2514600" y="3211450"/>
            <a:ext cx="28650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 of Complex Query – High Performance Lookup</a:t>
            </a:r>
          </a:p>
        </p:txBody>
      </p:sp>
    </p:spTree>
    <p:extLst>
      <p:ext uri="{BB962C8B-B14F-4D97-AF65-F5344CB8AC3E}">
        <p14:creationId xmlns:p14="http://schemas.microsoft.com/office/powerpoint/2010/main" val="425722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37556" cy="10287000"/>
          </a:xfrm>
          <a:custGeom>
            <a:avLst/>
            <a:gdLst/>
            <a:ahLst/>
            <a:cxnLst/>
            <a:rect l="l" t="t" r="r" b="b"/>
            <a:pathLst>
              <a:path w="6937556" h="10287000">
                <a:moveTo>
                  <a:pt x="0" y="0"/>
                </a:moveTo>
                <a:lnTo>
                  <a:pt x="6937556" y="0"/>
                </a:lnTo>
                <a:lnTo>
                  <a:pt x="69375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80695" r="-806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468778" y="1028700"/>
            <a:ext cx="11887382" cy="8229600"/>
            <a:chOff x="0" y="0"/>
            <a:chExt cx="3130833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30833" cy="2167467"/>
            </a:xfrm>
            <a:custGeom>
              <a:avLst/>
              <a:gdLst/>
              <a:ahLst/>
              <a:cxnLst/>
              <a:rect l="l" t="t" r="r" b="b"/>
              <a:pathLst>
                <a:path w="3130833" h="2167467">
                  <a:moveTo>
                    <a:pt x="0" y="0"/>
                  </a:moveTo>
                  <a:lnTo>
                    <a:pt x="3130833" y="0"/>
                  </a:lnTo>
                  <a:lnTo>
                    <a:pt x="313083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130833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79985" y="1028700"/>
            <a:ext cx="214295" cy="8229600"/>
            <a:chOff x="0" y="0"/>
            <a:chExt cx="56440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440" cy="2167467"/>
            </a:xfrm>
            <a:custGeom>
              <a:avLst/>
              <a:gdLst/>
              <a:ahLst/>
              <a:cxnLst/>
              <a:rect l="l" t="t" r="r" b="b"/>
              <a:pathLst>
                <a:path w="56440" h="2167467">
                  <a:moveTo>
                    <a:pt x="0" y="0"/>
                  </a:moveTo>
                  <a:lnTo>
                    <a:pt x="56440" y="0"/>
                  </a:lnTo>
                  <a:lnTo>
                    <a:pt x="5644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440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90510" y="1144537"/>
            <a:ext cx="11438796" cy="1173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36"/>
              </a:lnSpc>
              <a:spcBef>
                <a:spcPct val="0"/>
              </a:spcBef>
            </a:pPr>
            <a:r>
              <a:rPr lang="en-US" sz="6983" spc="97" dirty="0">
                <a:solidFill>
                  <a:srgbClr val="FEFFFF"/>
                </a:solidFill>
                <a:latin typeface="Oswald"/>
                <a:ea typeface="Oswald"/>
                <a:cs typeface="Oswald"/>
                <a:sym typeface="Oswald"/>
              </a:rPr>
              <a:t>LEARNING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468778" y="3481201"/>
            <a:ext cx="11887382" cy="5777099"/>
            <a:chOff x="0" y="0"/>
            <a:chExt cx="2624033" cy="12752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24033" cy="1275243"/>
            </a:xfrm>
            <a:custGeom>
              <a:avLst/>
              <a:gdLst/>
              <a:ahLst/>
              <a:cxnLst/>
              <a:rect l="l" t="t" r="r" b="b"/>
              <a:pathLst>
                <a:path w="2624033" h="1275243">
                  <a:moveTo>
                    <a:pt x="0" y="0"/>
                  </a:moveTo>
                  <a:lnTo>
                    <a:pt x="2624033" y="0"/>
                  </a:lnTo>
                  <a:lnTo>
                    <a:pt x="2624033" y="1275243"/>
                  </a:lnTo>
                  <a:lnTo>
                    <a:pt x="0" y="1275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14300"/>
              <a:ext cx="2624033" cy="13895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356160" y="1028700"/>
            <a:ext cx="2997720" cy="8229600"/>
            <a:chOff x="0" y="0"/>
            <a:chExt cx="789523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9523" cy="2167467"/>
            </a:xfrm>
            <a:custGeom>
              <a:avLst/>
              <a:gdLst/>
              <a:ahLst/>
              <a:cxnLst/>
              <a:rect l="l" t="t" r="r" b="b"/>
              <a:pathLst>
                <a:path w="789523" h="2167467">
                  <a:moveTo>
                    <a:pt x="0" y="0"/>
                  </a:moveTo>
                  <a:lnTo>
                    <a:pt x="789523" y="0"/>
                  </a:lnTo>
                  <a:lnTo>
                    <a:pt x="78952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789523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68778" y="3681095"/>
            <a:ext cx="11887382" cy="304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99" dirty="0">
                <a:solidFill>
                  <a:srgbClr val="FEFFFF"/>
                </a:solidFill>
                <a:ea typeface="Open Sauce"/>
                <a:cs typeface="Open Sauce"/>
                <a:sym typeface="Open Sauce"/>
              </a:rPr>
              <a:t>We gained significant confidence and learned advanced techniques within the PostgreSQL</a:t>
            </a:r>
          </a:p>
          <a:p>
            <a:pPr marL="342900" indent="-342900">
              <a:lnSpc>
                <a:spcPts val="29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challenge of cleaning and integrating asynchronous data taught us essential problem-solving techniques and significantly strengthened our foundational SQL skills.</a:t>
            </a:r>
          </a:p>
          <a:p>
            <a:pPr marL="342900" indent="-342900">
              <a:lnSpc>
                <a:spcPts val="29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Replaced subqueries with faster </a:t>
            </a:r>
            <a:r>
              <a:rPr lang="en-US" sz="2400" b="1" dirty="0">
                <a:solidFill>
                  <a:schemeClr val="bg1"/>
                </a:solidFill>
              </a:rPr>
              <a:t>Window Functions</a:t>
            </a:r>
            <a:r>
              <a:rPr lang="en-US" sz="2400" dirty="0">
                <a:solidFill>
                  <a:schemeClr val="bg1"/>
                </a:solidFill>
              </a:rPr>
              <a:t> and enforced </a:t>
            </a:r>
            <a:r>
              <a:rPr lang="en-US" sz="2400" b="1" dirty="0">
                <a:solidFill>
                  <a:schemeClr val="bg1"/>
                </a:solidFill>
              </a:rPr>
              <a:t>early data filtering</a:t>
            </a:r>
            <a:r>
              <a:rPr lang="en-US" sz="2400" dirty="0">
                <a:solidFill>
                  <a:schemeClr val="bg1"/>
                </a:solidFill>
              </a:rPr>
              <a:t> to reduce the load on aggregations.</a:t>
            </a:r>
          </a:p>
          <a:p>
            <a:pPr marL="342900" indent="-342900">
              <a:lnSpc>
                <a:spcPts val="29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Used </a:t>
            </a:r>
            <a:r>
              <a:rPr lang="en-US" sz="2400" b="1" dirty="0">
                <a:solidFill>
                  <a:schemeClr val="bg1"/>
                </a:solidFill>
              </a:rPr>
              <a:t>CTEs (Common Table Expressions)</a:t>
            </a:r>
            <a:r>
              <a:rPr lang="en-US" sz="2400" dirty="0">
                <a:solidFill>
                  <a:schemeClr val="bg1"/>
                </a:solidFill>
              </a:rPr>
              <a:t> to break down complex queries into manageable, reusable steps for easier debugging.</a:t>
            </a:r>
          </a:p>
          <a:p>
            <a:pPr marL="342900" indent="-342900">
              <a:lnSpc>
                <a:spcPts val="29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299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2513" y="-424845"/>
            <a:ext cx="4162975" cy="11048130"/>
            <a:chOff x="0" y="0"/>
            <a:chExt cx="803938" cy="21335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3938" cy="2133574"/>
            </a:xfrm>
            <a:custGeom>
              <a:avLst/>
              <a:gdLst/>
              <a:ahLst/>
              <a:cxnLst/>
              <a:rect l="l" t="t" r="r" b="b"/>
              <a:pathLst>
                <a:path w="803938" h="2133574">
                  <a:moveTo>
                    <a:pt x="0" y="0"/>
                  </a:moveTo>
                  <a:lnTo>
                    <a:pt x="803938" y="0"/>
                  </a:lnTo>
                  <a:lnTo>
                    <a:pt x="803938" y="2133574"/>
                  </a:lnTo>
                  <a:lnTo>
                    <a:pt x="0" y="213357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803938" cy="224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58032" y="1697058"/>
            <a:ext cx="7971935" cy="6892884"/>
            <a:chOff x="0" y="0"/>
            <a:chExt cx="1014292" cy="8770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4292" cy="877001"/>
            </a:xfrm>
            <a:custGeom>
              <a:avLst/>
              <a:gdLst/>
              <a:ahLst/>
              <a:cxnLst/>
              <a:rect l="l" t="t" r="r" b="b"/>
              <a:pathLst>
                <a:path w="1014292" h="877001">
                  <a:moveTo>
                    <a:pt x="0" y="0"/>
                  </a:moveTo>
                  <a:lnTo>
                    <a:pt x="1014292" y="0"/>
                  </a:lnTo>
                  <a:lnTo>
                    <a:pt x="1014292" y="877001"/>
                  </a:lnTo>
                  <a:lnTo>
                    <a:pt x="0" y="877001"/>
                  </a:lnTo>
                  <a:close/>
                </a:path>
              </a:pathLst>
            </a:custGeom>
            <a:solidFill>
              <a:srgbClr val="FFCB13">
                <a:alpha val="8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14292" cy="896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3940" y="2057400"/>
            <a:ext cx="7084660" cy="6083640"/>
            <a:chOff x="0" y="0"/>
            <a:chExt cx="1368163" cy="1174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8163" cy="1174850"/>
            </a:xfrm>
            <a:custGeom>
              <a:avLst/>
              <a:gdLst/>
              <a:ahLst/>
              <a:cxnLst/>
              <a:rect l="l" t="t" r="r" b="b"/>
              <a:pathLst>
                <a:path w="1368163" h="1174850">
                  <a:moveTo>
                    <a:pt x="0" y="0"/>
                  </a:moveTo>
                  <a:lnTo>
                    <a:pt x="1368163" y="0"/>
                  </a:lnTo>
                  <a:lnTo>
                    <a:pt x="1368163" y="1174850"/>
                  </a:lnTo>
                  <a:lnTo>
                    <a:pt x="0" y="1174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368163" cy="1289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21083516" cy="10287000"/>
          </a:xfrm>
          <a:custGeom>
            <a:avLst/>
            <a:gdLst/>
            <a:ahLst/>
            <a:cxnLst/>
            <a:rect l="l" t="t" r="r" b="b"/>
            <a:pathLst>
              <a:path w="21083516" h="10287000">
                <a:moveTo>
                  <a:pt x="0" y="0"/>
                </a:moveTo>
                <a:lnTo>
                  <a:pt x="21083516" y="0"/>
                </a:lnTo>
                <a:lnTo>
                  <a:pt x="210835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-41519" r="-471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187438" y="2376735"/>
            <a:ext cx="6037664" cy="527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53"/>
              </a:lnSpc>
              <a:spcBef>
                <a:spcPct val="0"/>
              </a:spcBef>
            </a:pPr>
            <a:r>
              <a:rPr lang="en-US" sz="10183" b="1" spc="142">
                <a:solidFill>
                  <a:srgbClr val="2C2D3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435</Words>
  <Application>Microsoft Office PowerPoint</Application>
  <PresentationFormat>Custom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Roboto Bold</vt:lpstr>
      <vt:lpstr>Calibri</vt:lpstr>
      <vt:lpstr>Open Sauce</vt:lpstr>
      <vt:lpstr>Oswald Bold</vt:lpstr>
      <vt:lpstr>Aptos</vt:lpstr>
      <vt:lpstr>Roboto</vt:lpstr>
      <vt:lpstr>Oswald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POSTGRESS</dc:title>
  <dc:creator>Dhanshri Patel</dc:creator>
  <cp:lastModifiedBy>Naomi Patel</cp:lastModifiedBy>
  <cp:revision>5</cp:revision>
  <dcterms:created xsi:type="dcterms:W3CDTF">2006-08-16T00:00:00Z</dcterms:created>
  <dcterms:modified xsi:type="dcterms:W3CDTF">2025-10-14T03:20:08Z</dcterms:modified>
  <dc:identifier>DAG0-YlwnzY</dc:identifier>
</cp:coreProperties>
</file>